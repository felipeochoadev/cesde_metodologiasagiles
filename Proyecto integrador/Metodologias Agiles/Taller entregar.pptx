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0" r:id="rId5"/>
    <p:sldId id="259" r:id="rId6"/>
    <p:sldId id="261" r:id="rId7"/>
    <p:sldId id="262" r:id="rId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5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76478-A055-CFF9-6071-3AF390191E6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1530B465-6293-5425-1AF4-04E127EFFE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175715A-E3A0-1151-7F71-B1D0E286D0E0}"/>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9C15C53A-8766-1FE6-47E7-C7336A98A96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9267A2-15BA-3E58-4300-78C496C0D781}"/>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1067198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EB1AFA-82DB-E74D-810F-63EA62BA282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C9D097A-5CFA-9F10-414A-FD417C9D0AD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7351076-B807-4620-2E76-DDFB33D6AEF2}"/>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43AB593E-C8A1-5305-B991-2D3BDFC73E6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9CC4102-88F1-58F1-8FD5-19378AA1FBF1}"/>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38324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F1EF5F-603C-0B43-5192-E00E34CF881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7D0CC6-C876-30CE-4D70-B420B6B9C5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B89D377-F03E-7D11-1D5F-BAFB251B8305}"/>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33CCE022-F473-8F92-1C1E-2D14BFDFADF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A28FCB-836A-BCA4-7940-303226C9C4E3}"/>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4077059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6B01A-C8B5-8A28-1444-81F2F7F4A2B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8759074-FBD6-C0B1-A927-C8676B882E3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4C53D4F-4EE3-335F-4BD8-8A8C871A450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E356401-1524-7E9F-5D36-4026BB8B57DF}"/>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6" name="Marcador de pie de página 5">
            <a:extLst>
              <a:ext uri="{FF2B5EF4-FFF2-40B4-BE49-F238E27FC236}">
                <a16:creationId xmlns:a16="http://schemas.microsoft.com/office/drawing/2014/main" id="{06794706-593D-5FDA-5181-3C4F234D352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B63CCD1-AF98-5DE9-6DFF-E7E932BC9C3C}"/>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3592402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EA3E5-A212-959C-F316-78A802BB685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294869-91D7-9276-0343-6380047585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B5BA9C2-74E3-B4A9-8D04-2849A51F0AB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84B732A-DC8A-2F47-37A4-6C699CB8B8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45A2C46-70B9-2D77-264B-87038BA7D5D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93EF188-EF97-DF09-2C26-49EED072DF03}"/>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8" name="Marcador de pie de página 7">
            <a:extLst>
              <a:ext uri="{FF2B5EF4-FFF2-40B4-BE49-F238E27FC236}">
                <a16:creationId xmlns:a16="http://schemas.microsoft.com/office/drawing/2014/main" id="{34001987-C707-DBFD-64C7-CAE000E1B67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F39DF21F-7DD2-CE16-6BC2-FC7D300F8D81}"/>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119690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1F6B22-5D6B-5ADF-5367-7B2A6F5C06D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BABF4F8-C86B-630A-2734-36D272850B5E}"/>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4" name="Marcador de pie de página 3">
            <a:extLst>
              <a:ext uri="{FF2B5EF4-FFF2-40B4-BE49-F238E27FC236}">
                <a16:creationId xmlns:a16="http://schemas.microsoft.com/office/drawing/2014/main" id="{691BE622-505E-3841-0E70-2A9F33A09C5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045A1A1-3A30-A8A1-6CE8-AAE9C1E0E7E0}"/>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134109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B1A1430-FFAB-C25F-CFBC-68E4BC58689F}"/>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3" name="Marcador de pie de página 2">
            <a:extLst>
              <a:ext uri="{FF2B5EF4-FFF2-40B4-BE49-F238E27FC236}">
                <a16:creationId xmlns:a16="http://schemas.microsoft.com/office/drawing/2014/main" id="{D75E2D8D-711D-905E-6F0E-2592F82EC11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D68328C-A5EB-46F7-2B29-3B6323DA5E93}"/>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4069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6A5A3A-7401-73FA-E621-AE6B8C1D64D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E5ABEF5-4EA1-DFB4-3600-E35542D3BC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9743DE6-6C0F-3BED-85B4-514B8DC25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EC2637A-172F-934C-F890-335CFAB35394}"/>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6" name="Marcador de pie de página 5">
            <a:extLst>
              <a:ext uri="{FF2B5EF4-FFF2-40B4-BE49-F238E27FC236}">
                <a16:creationId xmlns:a16="http://schemas.microsoft.com/office/drawing/2014/main" id="{2FCED758-B5F0-17F3-F429-D2ED502BA26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A1356D7-73EF-68A9-2FD0-7B9589DC904C}"/>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376889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984683-31B7-0999-2B07-1D9E5F96C05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19EE4E4-E172-BD80-7D16-07CD580308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0173761-3678-4C38-C050-685A177C2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1CB3DC-DD39-E419-4EEC-5FFC7924F318}"/>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6" name="Marcador de pie de página 5">
            <a:extLst>
              <a:ext uri="{FF2B5EF4-FFF2-40B4-BE49-F238E27FC236}">
                <a16:creationId xmlns:a16="http://schemas.microsoft.com/office/drawing/2014/main" id="{3F712C76-9E48-8F40-B615-00B7D28D5AC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6E3D294-CFAD-FD82-023A-E78CA7728D9A}"/>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695079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4A050-9D27-3CDD-A500-C45858CFA21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C52B6E4-57DE-3F3C-5430-6C67C7A4DC2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A332FB1-10F7-C0C1-2AF1-DFEB045F5A3D}"/>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040DEA07-A657-683B-7FD5-BDB2C039ED1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C9904B5-9CF4-0D6C-D172-BFDC219BF227}"/>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250629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85250AA-C354-EFC9-C668-EA4BC18D0A9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BB46AD9-3E96-1831-8B90-7C7F4BDED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49AD448-9193-32AF-7907-4ECB5FF7A73F}"/>
              </a:ext>
            </a:extLst>
          </p:cNvPr>
          <p:cNvSpPr>
            <a:spLocks noGrp="1"/>
          </p:cNvSpPr>
          <p:nvPr>
            <p:ph type="dt" sz="half" idx="10"/>
          </p:nvPr>
        </p:nvSpPr>
        <p:spPr/>
        <p:txBody>
          <a:body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EB052576-8138-ABFD-083E-311B75C0EB8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9AF57-C0B5-CC57-1B86-160248911B92}"/>
              </a:ext>
            </a:extLst>
          </p:cNvPr>
          <p:cNvSpPr>
            <a:spLocks noGrp="1"/>
          </p:cNvSpPr>
          <p:nvPr>
            <p:ph type="sldNum" sz="quarter" idx="12"/>
          </p:nvPr>
        </p:nvSpPr>
        <p:spPr/>
        <p:txBody>
          <a:bodyPr/>
          <a:lstStyle/>
          <a:p>
            <a:fld id="{35BD4D26-BF9E-4454-94DA-9D9D63C6DA13}" type="slidenum">
              <a:rPr lang="es-CO" smtClean="0"/>
              <a:t>‹Nº›</a:t>
            </a:fld>
            <a:endParaRPr lang="es-CO"/>
          </a:p>
        </p:txBody>
      </p:sp>
    </p:spTree>
    <p:extLst>
      <p:ext uri="{BB962C8B-B14F-4D97-AF65-F5344CB8AC3E}">
        <p14:creationId xmlns:p14="http://schemas.microsoft.com/office/powerpoint/2010/main" val="128865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C55679A-A58B-0C72-A8EB-59763F1793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A4EEFC0-E01E-0AFB-00A6-57FF30C12B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94898DE-45CC-93E9-3E3D-2CD75E0F33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B08756-384F-4843-BBEB-33D5BA32C084}" type="datetimeFigureOut">
              <a:rPr lang="es-CO" smtClean="0"/>
              <a:t>27/08/2026</a:t>
            </a:fld>
            <a:endParaRPr lang="es-CO"/>
          </a:p>
        </p:txBody>
      </p:sp>
      <p:sp>
        <p:nvSpPr>
          <p:cNvPr id="5" name="Marcador de pie de página 4">
            <a:extLst>
              <a:ext uri="{FF2B5EF4-FFF2-40B4-BE49-F238E27FC236}">
                <a16:creationId xmlns:a16="http://schemas.microsoft.com/office/drawing/2014/main" id="{1BC65A5E-FA4D-09E6-E884-30F9959E9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C4E528-EF78-8E90-B549-FA42E3A882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BD4D26-BF9E-4454-94DA-9D9D63C6DA13}" type="slidenum">
              <a:rPr lang="es-CO" smtClean="0"/>
              <a:t>‹Nº›</a:t>
            </a:fld>
            <a:endParaRPr lang="es-CO"/>
          </a:p>
        </p:txBody>
      </p:sp>
    </p:spTree>
    <p:extLst>
      <p:ext uri="{BB962C8B-B14F-4D97-AF65-F5344CB8AC3E}">
        <p14:creationId xmlns:p14="http://schemas.microsoft.com/office/powerpoint/2010/main" val="1974701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E297369-1A9C-7E72-D8F3-CAF33FD571AD}"/>
              </a:ext>
            </a:extLst>
          </p:cNvPr>
          <p:cNvSpPr>
            <a:spLocks noGrp="1"/>
          </p:cNvSpPr>
          <p:nvPr>
            <p:ph idx="1"/>
          </p:nvPr>
        </p:nvSpPr>
        <p:spPr>
          <a:xfrm>
            <a:off x="838200" y="290945"/>
            <a:ext cx="10515600" cy="5886018"/>
          </a:xfrm>
        </p:spPr>
        <p:txBody>
          <a:bodyPr>
            <a:normAutofit/>
          </a:bodyPr>
          <a:lstStyle/>
          <a:p>
            <a:r>
              <a:rPr lang="es-CO" dirty="0"/>
              <a:t>Desarrollado como parte de la formación académica en el CESDE, </a:t>
            </a:r>
            <a:r>
              <a:rPr lang="es-CO" b="1" dirty="0" err="1"/>
              <a:t>Cinemax</a:t>
            </a:r>
            <a:r>
              <a:rPr lang="es-CO" dirty="0"/>
              <a:t> surge como una solución tecnológica integral para modernizar y optimizar la operación de un complejo cinematográfico. El sistema digitaliza el flujo de trabajo completo, desde la exhibición de la cartelera hasta la compra de entradas y la gestión administrativa interna.</a:t>
            </a:r>
          </a:p>
          <a:p>
            <a:r>
              <a:rPr lang="es-CO" b="1" dirty="0"/>
              <a:t>Descripción General</a:t>
            </a:r>
            <a:r>
              <a:rPr lang="es-CO" dirty="0"/>
              <a:t> </a:t>
            </a:r>
            <a:r>
              <a:rPr lang="es-CO" dirty="0" err="1"/>
              <a:t>Cinemax</a:t>
            </a:r>
            <a:r>
              <a:rPr lang="es-CO" dirty="0"/>
              <a:t> es una aplicación web full-</a:t>
            </a:r>
            <a:r>
              <a:rPr lang="es-CO" dirty="0" err="1"/>
              <a:t>stack</a:t>
            </a:r>
            <a:r>
              <a:rPr lang="es-CO" dirty="0"/>
              <a:t> diseñada bajo un enfoque modular y limpio. Su propósito principal es ofrecer una experiencia de usuario fluida para los espectadores y una herramienta de control robusta para los administradores del cine. El sistema centraliza la oferta de películas, la asignación dinámica de funciones por salas, el control de aforos en tiempo real y la comercialización de productos de confitería.</a:t>
            </a:r>
          </a:p>
          <a:p>
            <a:endParaRPr lang="es-CO" dirty="0"/>
          </a:p>
        </p:txBody>
      </p:sp>
    </p:spTree>
    <p:extLst>
      <p:ext uri="{BB962C8B-B14F-4D97-AF65-F5344CB8AC3E}">
        <p14:creationId xmlns:p14="http://schemas.microsoft.com/office/powerpoint/2010/main" val="711655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895D3C0-973C-E3B1-E3F4-2FCB49AC5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9828"/>
            <a:ext cx="12192000" cy="5478344"/>
          </a:xfrm>
          <a:prstGeom prst="rect">
            <a:avLst/>
          </a:prstGeom>
        </p:spPr>
      </p:pic>
    </p:spTree>
    <p:extLst>
      <p:ext uri="{BB962C8B-B14F-4D97-AF65-F5344CB8AC3E}">
        <p14:creationId xmlns:p14="http://schemas.microsoft.com/office/powerpoint/2010/main" val="676263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A36E545-8726-02C5-65EF-648E3CDBBD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43617" y="0"/>
            <a:ext cx="3825755" cy="6858000"/>
          </a:xfrm>
          <a:prstGeom prst="rect">
            <a:avLst/>
          </a:prstGeom>
          <a:noFill/>
          <a:ln>
            <a:noFill/>
          </a:ln>
        </p:spPr>
      </p:pic>
    </p:spTree>
    <p:extLst>
      <p:ext uri="{BB962C8B-B14F-4D97-AF65-F5344CB8AC3E}">
        <p14:creationId xmlns:p14="http://schemas.microsoft.com/office/powerpoint/2010/main" val="3677069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4AF8812-1CDC-98A3-D5CB-661084849303}"/>
              </a:ext>
            </a:extLst>
          </p:cNvPr>
          <p:cNvPicPr>
            <a:picLocks noChangeAspect="1"/>
          </p:cNvPicPr>
          <p:nvPr/>
        </p:nvPicPr>
        <p:blipFill>
          <a:blip r:embed="rId2"/>
          <a:stretch>
            <a:fillRect/>
          </a:stretch>
        </p:blipFill>
        <p:spPr>
          <a:xfrm>
            <a:off x="3912" y="442495"/>
            <a:ext cx="12184175" cy="5973009"/>
          </a:xfrm>
          <a:prstGeom prst="rect">
            <a:avLst/>
          </a:prstGeom>
        </p:spPr>
      </p:pic>
    </p:spTree>
    <p:extLst>
      <p:ext uri="{BB962C8B-B14F-4D97-AF65-F5344CB8AC3E}">
        <p14:creationId xmlns:p14="http://schemas.microsoft.com/office/powerpoint/2010/main" val="389234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22A37E3F-C02C-ABC8-42B5-3825EBD0B6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0408" y="144897"/>
            <a:ext cx="10680537" cy="6568206"/>
          </a:xfrm>
          <a:prstGeom prst="rect">
            <a:avLst/>
          </a:prstGeom>
        </p:spPr>
      </p:pic>
    </p:spTree>
    <p:extLst>
      <p:ext uri="{BB962C8B-B14F-4D97-AF65-F5344CB8AC3E}">
        <p14:creationId xmlns:p14="http://schemas.microsoft.com/office/powerpoint/2010/main" val="2812113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0C13C6B9-8A33-B7EC-554E-4F6AF5F8C72F}"/>
              </a:ext>
            </a:extLst>
          </p:cNvPr>
          <p:cNvSpPr txBox="1"/>
          <p:nvPr/>
        </p:nvSpPr>
        <p:spPr>
          <a:xfrm>
            <a:off x="124691" y="193790"/>
            <a:ext cx="11942618" cy="4755148"/>
          </a:xfrm>
          <a:prstGeom prst="rect">
            <a:avLst/>
          </a:prstGeom>
          <a:noFill/>
        </p:spPr>
        <p:txBody>
          <a:bodyPr wrap="square">
            <a:spAutoFit/>
          </a:bodyPr>
          <a:lstStyle/>
          <a:p>
            <a:pPr>
              <a:lnSpc>
                <a:spcPct val="100000"/>
              </a:lnSpc>
              <a:spcBef>
                <a:spcPts val="2400"/>
              </a:spcBef>
              <a:buNone/>
            </a:pPr>
            <a:r>
              <a:rPr lang="es-CO" sz="1200" b="1" kern="0" dirty="0">
                <a:solidFill>
                  <a:schemeClr val="tx1"/>
                </a:solidFill>
                <a:effectLst/>
                <a:latin typeface="+mn-lt"/>
                <a:ea typeface="MS Gothic" panose="020B0609070205080204" pitchFamily="49" charset="-128"/>
                <a:cs typeface="Times New Roman" panose="02020603050405020304" pitchFamily="18" charset="0"/>
              </a:rPr>
              <a:t>PRODUCT VISION BOARD</a:t>
            </a:r>
          </a:p>
          <a:p>
            <a:pPr>
              <a:lnSpc>
                <a:spcPct val="100000"/>
              </a:lnSpc>
              <a:spcAft>
                <a:spcPts val="1000"/>
              </a:spcAft>
              <a:buNone/>
            </a:pPr>
            <a:r>
              <a:rPr lang="es-CO" sz="1200" i="1" spc="75" dirty="0" err="1">
                <a:solidFill>
                  <a:schemeClr val="tx1"/>
                </a:solidFill>
                <a:effectLst/>
                <a:latin typeface="+mn-lt"/>
                <a:ea typeface="MS Gothic" panose="020B0609070205080204" pitchFamily="49" charset="-128"/>
                <a:cs typeface="Times New Roman" panose="02020603050405020304" pitchFamily="18" charset="0"/>
              </a:rPr>
              <a:t>CineMax</a:t>
            </a:r>
            <a:r>
              <a:rPr lang="es-CO" sz="1200" i="1" spc="75" dirty="0">
                <a:solidFill>
                  <a:schemeClr val="tx1"/>
                </a:solidFill>
                <a:effectLst/>
                <a:latin typeface="+mn-lt"/>
                <a:ea typeface="MS Gothic" panose="020B0609070205080204" pitchFamily="49" charset="-128"/>
                <a:cs typeface="Times New Roman" panose="02020603050405020304" pitchFamily="18" charset="0"/>
              </a:rPr>
              <a:t> CESDE - Venta de boletos de cine en línea</a:t>
            </a:r>
          </a:p>
          <a:p>
            <a:pPr>
              <a:lnSpc>
                <a:spcPct val="100000"/>
              </a:lnSpc>
              <a:spcAft>
                <a:spcPts val="1000"/>
              </a:spcAft>
              <a:buNone/>
            </a:pPr>
            <a:r>
              <a:rPr lang="es-CO" sz="1200" dirty="0">
                <a:effectLst/>
                <a:latin typeface="+mn-lt"/>
                <a:ea typeface="MS Mincho" panose="020B0400000000000000" pitchFamily="49" charset="-128"/>
                <a:cs typeface="Times New Roman" panose="02020603050405020304" pitchFamily="18" charset="0"/>
              </a:rPr>
              <a:t> </a:t>
            </a:r>
          </a:p>
          <a:p>
            <a:pPr>
              <a:lnSpc>
                <a:spcPct val="100000"/>
              </a:lnSpc>
              <a:spcBef>
                <a:spcPts val="1000"/>
              </a:spcBef>
              <a:buNone/>
            </a:pPr>
            <a:r>
              <a:rPr lang="es-CO" sz="1200" b="1" dirty="0">
                <a:solidFill>
                  <a:schemeClr val="tx1"/>
                </a:solidFill>
                <a:effectLst/>
                <a:latin typeface="+mn-lt"/>
                <a:ea typeface="MS Gothic" panose="020B0609070205080204" pitchFamily="49" charset="-128"/>
                <a:cs typeface="Times New Roman" panose="02020603050405020304" pitchFamily="18" charset="0"/>
              </a:rPr>
              <a:t>1. Visión del producto</a:t>
            </a:r>
          </a:p>
          <a:p>
            <a:pPr>
              <a:lnSpc>
                <a:spcPct val="100000"/>
              </a:lnSpc>
              <a:spcAft>
                <a:spcPts val="1000"/>
              </a:spcAft>
              <a:buNone/>
            </a:pPr>
            <a:r>
              <a:rPr lang="es-CO" sz="1200" dirty="0">
                <a:effectLst/>
                <a:latin typeface="+mn-lt"/>
                <a:ea typeface="MS Mincho" panose="020B0400000000000000" pitchFamily="49" charset="-128"/>
                <a:cs typeface="Times New Roman" panose="02020603050405020304" pitchFamily="18" charset="0"/>
              </a:rPr>
              <a:t>Crear una plataforma web de venta de boletos de cine que automatiza el proceso de compra, elimina las filas y la dependencia de la taquilla física, y brinda a los clientes una experiencia rápida y clara con descuentos aplicados de forma automática.</a:t>
            </a:r>
          </a:p>
          <a:p>
            <a:pPr>
              <a:lnSpc>
                <a:spcPct val="100000"/>
              </a:lnSpc>
              <a:spcBef>
                <a:spcPts val="1000"/>
              </a:spcBef>
              <a:buNone/>
            </a:pPr>
            <a:r>
              <a:rPr lang="es-CO" sz="1200" b="1" dirty="0">
                <a:solidFill>
                  <a:schemeClr val="tx1"/>
                </a:solidFill>
                <a:effectLst/>
                <a:latin typeface="+mn-lt"/>
                <a:ea typeface="MS Gothic" panose="020B0609070205080204" pitchFamily="49" charset="-128"/>
                <a:cs typeface="Times New Roman" panose="02020603050405020304" pitchFamily="18" charset="0"/>
              </a:rPr>
              <a:t>2. Usuarios</a:t>
            </a:r>
          </a:p>
          <a:p>
            <a:pPr>
              <a:lnSpc>
                <a:spcPct val="100000"/>
              </a:lnSpc>
              <a:spcAft>
                <a:spcPts val="1000"/>
              </a:spcAft>
              <a:buNone/>
            </a:pPr>
            <a:r>
              <a:rPr lang="es-CO" sz="1200" dirty="0">
                <a:effectLst/>
                <a:latin typeface="+mn-lt"/>
                <a:ea typeface="MS Mincho" panose="020B0400000000000000" pitchFamily="49" charset="-128"/>
                <a:cs typeface="Times New Roman" panose="02020603050405020304" pitchFamily="18" charset="0"/>
              </a:rPr>
              <a:t>¿Quién usará el producto?</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Clientes del cine (público general)</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Familias que asisten al cine y buscan comodidad</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Jóvenes y adultos que desean comprar por internet</a:t>
            </a:r>
          </a:p>
          <a:p>
            <a:pPr marL="342900" lvl="0" indent="-342900">
              <a:lnSpc>
                <a:spcPct val="100000"/>
              </a:lnSpc>
              <a:spcAft>
                <a:spcPts val="1000"/>
              </a:spcAft>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Cajero / administrador del cine: reduce el trabajo manual de venta</a:t>
            </a:r>
          </a:p>
          <a:p>
            <a:pPr>
              <a:lnSpc>
                <a:spcPct val="100000"/>
              </a:lnSpc>
              <a:spcBef>
                <a:spcPts val="1000"/>
              </a:spcBef>
              <a:buNone/>
            </a:pPr>
            <a:r>
              <a:rPr lang="es-CO" sz="1200" b="1" dirty="0">
                <a:solidFill>
                  <a:schemeClr val="tx1"/>
                </a:solidFill>
                <a:effectLst/>
                <a:latin typeface="+mn-lt"/>
                <a:ea typeface="MS Gothic" panose="020B0609070205080204" pitchFamily="49" charset="-128"/>
                <a:cs typeface="Times New Roman" panose="02020603050405020304" pitchFamily="18" charset="0"/>
              </a:rPr>
              <a:t>3. Necesidades</a:t>
            </a:r>
          </a:p>
          <a:p>
            <a:pPr>
              <a:lnSpc>
                <a:spcPct val="100000"/>
              </a:lnSpc>
              <a:spcAft>
                <a:spcPts val="1000"/>
              </a:spcAft>
              <a:buNone/>
            </a:pPr>
            <a:r>
              <a:rPr lang="es-CO" sz="1200" dirty="0">
                <a:effectLst/>
                <a:latin typeface="+mn-lt"/>
                <a:ea typeface="MS Mincho" panose="020B0400000000000000" pitchFamily="49" charset="-128"/>
                <a:cs typeface="Times New Roman" panose="02020603050405020304" pitchFamily="18" charset="0"/>
              </a:rPr>
              <a:t>¿Qué problema resolvemos?</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Comprar boletos sin hacer fila en la taquilla</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Conocer la cartelera, los precios y la duración de cada película</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Saber si una película tiene restricción de edad (por ejemplo, +18)</a:t>
            </a:r>
          </a:p>
          <a:p>
            <a:pPr marL="342900" lvl="0" indent="-342900">
              <a:lnSpc>
                <a:spcPct val="100000"/>
              </a:lnSpc>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Obtener descuentos (10 %) sin depender de la taquilla</a:t>
            </a:r>
          </a:p>
          <a:p>
            <a:pPr marL="342900" lvl="0" indent="-342900">
              <a:lnSpc>
                <a:spcPct val="100000"/>
              </a:lnSpc>
              <a:spcAft>
                <a:spcPts val="1000"/>
              </a:spcAft>
              <a:buFont typeface="Symbol" panose="05050102010706020507" pitchFamily="18" charset="2"/>
              <a:buChar char=""/>
            </a:pPr>
            <a:r>
              <a:rPr lang="es-CO" sz="1200" dirty="0">
                <a:effectLst/>
                <a:latin typeface="+mn-lt"/>
                <a:ea typeface="MS Mincho" panose="020B0400000000000000" pitchFamily="49" charset="-128"/>
                <a:cs typeface="Times New Roman" panose="02020603050405020304" pitchFamily="18" charset="0"/>
              </a:rPr>
              <a:t>Conocer el valor total a pagar antes de confirmar la compra</a:t>
            </a:r>
            <a:endParaRPr lang="es-CO" sz="1200" dirty="0">
              <a:effectLst/>
              <a:latin typeface="Cambria" panose="02040503050406030204" pitchFamily="18" charset="0"/>
              <a:ea typeface="MS Mincho" panose="020B0400000000000000" pitchFamily="49" charset="-128"/>
              <a:cs typeface="Times New Roman" panose="02020603050405020304" pitchFamily="18" charset="0"/>
            </a:endParaRPr>
          </a:p>
        </p:txBody>
      </p:sp>
    </p:spTree>
    <p:extLst>
      <p:ext uri="{BB962C8B-B14F-4D97-AF65-F5344CB8AC3E}">
        <p14:creationId xmlns:p14="http://schemas.microsoft.com/office/powerpoint/2010/main" val="3896368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D7E60B-9FB6-FDA4-BDB1-A6C6F410EBC8}"/>
              </a:ext>
            </a:extLst>
          </p:cNvPr>
          <p:cNvSpPr>
            <a:spLocks noGrp="1"/>
          </p:cNvSpPr>
          <p:nvPr>
            <p:ph idx="1"/>
          </p:nvPr>
        </p:nvSpPr>
        <p:spPr>
          <a:xfrm>
            <a:off x="838200" y="193964"/>
            <a:ext cx="10515600" cy="5982999"/>
          </a:xfrm>
        </p:spPr>
        <p:txBody>
          <a:bodyPr>
            <a:normAutofit fontScale="70000" lnSpcReduction="20000"/>
          </a:bodyPr>
          <a:lstStyle/>
          <a:p>
            <a:r>
              <a:rPr lang="es-CO" b="1" dirty="0"/>
              <a:t>4. Producto / Solución</a:t>
            </a:r>
          </a:p>
          <a:p>
            <a:r>
              <a:rPr lang="es-CO" dirty="0"/>
              <a:t>Características clave del Producto:</a:t>
            </a:r>
          </a:p>
          <a:p>
            <a:pPr lvl="0"/>
            <a:r>
              <a:rPr lang="es-CO" dirty="0"/>
              <a:t>Web responsive de </a:t>
            </a:r>
            <a:r>
              <a:rPr lang="es-CO" dirty="0" err="1"/>
              <a:t>CineMax</a:t>
            </a:r>
            <a:r>
              <a:rPr lang="es-CO" dirty="0"/>
              <a:t> CESDE (HTML, CSS, Bootstrap y JavaScript)</a:t>
            </a:r>
          </a:p>
          <a:p>
            <a:pPr lvl="0"/>
            <a:r>
              <a:rPr lang="es-CO" dirty="0"/>
              <a:t>Cartelera digital con películas, imágenes, precios y calificaciones</a:t>
            </a:r>
          </a:p>
          <a:p>
            <a:pPr lvl="0"/>
            <a:r>
              <a:rPr lang="es-CO" dirty="0"/>
              <a:t>Formulario de venta con validaciones (campos vacíos y cantidad de boletos mayor a 0)</a:t>
            </a:r>
          </a:p>
          <a:p>
            <a:pPr lvl="0"/>
            <a:r>
              <a:rPr lang="es-CO" dirty="0"/>
              <a:t>Lógica de reglas: restricción de edad (+18) para películas clasificadas</a:t>
            </a:r>
          </a:p>
          <a:p>
            <a:pPr lvl="0"/>
            <a:r>
              <a:rPr lang="es-CO" dirty="0"/>
              <a:t>Descuento automático del 10 % si compras más de 4 boletos o eres menor de 12 años</a:t>
            </a:r>
          </a:p>
          <a:p>
            <a:pPr lvl="0"/>
            <a:r>
              <a:rPr lang="es-CO" dirty="0"/>
              <a:t>Cálculo automático del subtotal y del total a pagar</a:t>
            </a:r>
          </a:p>
          <a:p>
            <a:pPr lvl="0"/>
            <a:r>
              <a:rPr lang="es-CO" dirty="0"/>
              <a:t>Mapa de asientos (fase futura)</a:t>
            </a:r>
          </a:p>
          <a:p>
            <a:pPr lvl="0"/>
            <a:r>
              <a:rPr lang="es-CO" dirty="0"/>
              <a:t>Botón de ayuda con la matriz de validaciones y operadores lógicos</a:t>
            </a:r>
          </a:p>
          <a:p>
            <a:r>
              <a:rPr lang="es-CO" b="1" dirty="0"/>
              <a:t>5. Objetivos del negocio</a:t>
            </a:r>
          </a:p>
          <a:p>
            <a:r>
              <a:rPr lang="es-CO" dirty="0"/>
              <a:t>¿Qué gana la empresa o el usuario final?</a:t>
            </a:r>
          </a:p>
          <a:p>
            <a:pPr lvl="0"/>
            <a:r>
              <a:rPr lang="es-CO" dirty="0"/>
              <a:t>Automatizar la venta y reducir las filas en la taquilla</a:t>
            </a:r>
          </a:p>
          <a:p>
            <a:pPr lvl="0"/>
            <a:r>
              <a:rPr lang="es-CO" dirty="0"/>
              <a:t>Aumentar las ventas a través del canal digital</a:t>
            </a:r>
          </a:p>
          <a:p>
            <a:pPr lvl="0"/>
            <a:r>
              <a:rPr lang="es-CO" dirty="0"/>
              <a:t>Reducir errores de cobro gracias al cálculo automático</a:t>
            </a:r>
          </a:p>
          <a:p>
            <a:pPr lvl="0"/>
            <a:r>
              <a:rPr lang="es-CO" dirty="0"/>
              <a:t>Fidelizar clientes mediante descuentos y promociones</a:t>
            </a:r>
          </a:p>
          <a:p>
            <a:pPr lvl="0"/>
            <a:r>
              <a:rPr lang="es-CO" dirty="0"/>
              <a:t>Sentar la base para futuras fases (asientos, pagos en línea, </a:t>
            </a:r>
            <a:r>
              <a:rPr lang="es-CO" dirty="0" err="1"/>
              <a:t>backend</a:t>
            </a:r>
            <a:r>
              <a:rPr lang="es-CO" dirty="0"/>
              <a:t>)</a:t>
            </a:r>
          </a:p>
          <a:p>
            <a:endParaRPr lang="es-CO" dirty="0"/>
          </a:p>
        </p:txBody>
      </p:sp>
    </p:spTree>
    <p:extLst>
      <p:ext uri="{BB962C8B-B14F-4D97-AF65-F5344CB8AC3E}">
        <p14:creationId xmlns:p14="http://schemas.microsoft.com/office/powerpoint/2010/main" val="37883218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468</Words>
  <Application>Microsoft Office PowerPoint</Application>
  <PresentationFormat>Panorámica</PresentationFormat>
  <Paragraphs>37</Paragraphs>
  <Slides>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Aptos</vt:lpstr>
      <vt:lpstr>Aptos Display</vt:lpstr>
      <vt:lpstr>Arial</vt:lpstr>
      <vt:lpstr>Cambria</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Felipe Ochoa Cardona</dc:creator>
  <cp:lastModifiedBy>Luis Felipe Ochoa Cardona</cp:lastModifiedBy>
  <cp:revision>4</cp:revision>
  <dcterms:created xsi:type="dcterms:W3CDTF">2026-08-28T00:13:10Z</dcterms:created>
  <dcterms:modified xsi:type="dcterms:W3CDTF">2026-08-28T00:21:28Z</dcterms:modified>
</cp:coreProperties>
</file>