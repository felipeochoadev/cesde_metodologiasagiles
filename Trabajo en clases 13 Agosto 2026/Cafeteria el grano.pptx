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BEB"/>
    <a:srgbClr val="F3F8F1"/>
    <a:srgbClr val="EED9F5"/>
    <a:srgbClr val="FDEECA"/>
    <a:srgbClr val="E4EAF6"/>
    <a:srgbClr val="D1C090"/>
    <a:srgbClr val="F9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49D92-ACBB-42A9-91D4-BCEABC8EC0D2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AC0EF-F468-4509-9619-9A55E1C188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283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AC0EF-F468-4509-9619-9A55E1C18820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163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A9EFB-59B7-527C-C209-816294AD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756038-F2AF-AA1F-9D2C-43D146D90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926646-7023-0194-CE09-84EBA9DE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A3F0B8-C25F-462A-1C9A-0CC621D2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1C4C14-D277-4C6B-4F7A-A14F0DD5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1586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E7F1B-3648-633D-1AEC-557BBABC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36CAC0-19F4-9CDB-C466-696AB4B6C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B5F6F0-A4D3-8617-FA5B-CE60773E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732C5-7A79-1379-ED42-AF046C0D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34150-5AE8-CE91-C93A-5502C183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007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0601B-321D-66DB-DF43-75F5E019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298D71-1CB3-5B6A-D153-070E72EE5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FF9B6-720F-5841-BB65-15885B1C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89B791-8078-673B-49E7-48FBDA3F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9BBC7E-88F2-AF47-B08C-D4558086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785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85AD6-5A57-EB1C-48C3-6E29296A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73AD48-44C1-A7C5-823B-C9999E39F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D7E92A-22E6-B3BB-C48B-72227F536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515479-3BAC-0432-0D4D-02D67E4D0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B372A8-6AE7-5EFB-BAC0-F2457E90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A4792C-D7FE-0987-D3BA-B8706B43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735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A7BD7-0B0C-183D-C9DF-ADCD6197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BC835A-9C3A-D019-152F-3367E2D2B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657B3D-F516-2287-6C47-C3B45506F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A132A5-383D-6174-278B-0A4A8F6F3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4C05A7-BBDA-08E3-BAA5-0A0DCBF60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7B0659-6422-F307-4BA0-E2C71D8C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8E5408-159E-6A2D-D337-C618D54C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C8F19E-E959-9BA5-22EF-25CE7A2D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334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55F53-BB16-8A64-41F8-451EAC0C3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6FBB72-FB77-8D69-0F88-8A4751DC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083C16-FD2D-299F-EE84-8A05837E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6874E3-1419-47B0-64F7-94D94AA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869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8DB60B-EB3A-6E46-AC8A-735D379C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009D0A-BCB0-03B5-3D0D-EC4CEA72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1CEE8-30DF-66C3-D5EB-B75D1DA4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222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101DC-62BB-B65C-B557-FA9749BB3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A976-0EEB-28C8-B221-DFCB1E860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4705ED-4006-0D98-4F85-1F63F0C82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20F23E-4D32-89C0-CA16-EABD65C5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3D3DA8-510B-BD47-571D-595DEDB0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F73F71-8657-2515-5668-21539FB1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98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FA30F-FB77-B081-2D40-6C294A56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C307F7-D067-B4E3-C369-DCF5889CB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5FE81D-0CF0-F7A2-E04B-556C2783D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6EFEF8-B709-8B5C-3E60-BA596915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D380AE-55A3-D55B-02FF-38ADE183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8B19E0-B650-6587-782E-7028DA69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921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79462-6086-F3B3-FBD3-2368EA7E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610DC0-4C6D-72DD-3134-ADD9487B9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14F227-B5A4-983C-A03A-CC930D71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4B1FFE-6C93-CCC9-35FF-AF49DDA6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7845E6-656E-9DD5-A7C2-8C0E38B0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56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01409A-14A8-F972-CAD6-6938C887D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93EAA9-BC1E-E492-04D0-16C6057E2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6CD48F-539D-6019-08BE-7A6A7892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BB7E-C79E-5F0D-A233-8BC7501D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3C6794-E5BA-F6C0-7EAB-8AFAD741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33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6E25AC-3E74-C015-F8B0-11EF3FB25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444976-DEAF-E7F5-83EE-141C3F4B6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A3F755-92A1-E72E-FB37-72B8A5BF4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35539-5DD3-42C7-BB19-652FDF59D98A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7819E-5221-863F-EF64-09BDF9886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86CB7-5386-38AB-EA0C-2DBE07061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725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667A0AD-F66D-06D1-54E7-2DF50A4CB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61" y="113498"/>
            <a:ext cx="10986236" cy="663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5862B6E-B550-694E-83AD-59FA9497CD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183"/>
            <a:ext cx="12192072" cy="665563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46D75F1-4B82-7CE8-DCC7-896238E5B528}"/>
              </a:ext>
            </a:extLst>
          </p:cNvPr>
          <p:cNvSpPr txBox="1"/>
          <p:nvPr/>
        </p:nvSpPr>
        <p:spPr>
          <a:xfrm>
            <a:off x="5412658" y="501446"/>
            <a:ext cx="4173793" cy="369332"/>
          </a:xfrm>
          <a:prstGeom prst="rect">
            <a:avLst/>
          </a:prstGeom>
          <a:solidFill>
            <a:srgbClr val="F9F9FA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App MVP "El Grano" (o </a:t>
            </a:r>
            <a:r>
              <a:rPr lang="es-CO" i="1" dirty="0"/>
              <a:t>El Grano App</a:t>
            </a:r>
            <a:r>
              <a:rPr lang="es-CO" dirty="0"/>
              <a:t>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96A9ED-5EC4-558D-4779-2D6BE7DDD65D}"/>
              </a:ext>
            </a:extLst>
          </p:cNvPr>
          <p:cNvSpPr txBox="1"/>
          <p:nvPr/>
        </p:nvSpPr>
        <p:spPr>
          <a:xfrm>
            <a:off x="476865" y="3059667"/>
            <a:ext cx="1823884" cy="3293209"/>
          </a:xfrm>
          <a:prstGeom prst="rect">
            <a:avLst/>
          </a:prstGeom>
          <a:solidFill>
            <a:srgbClr val="F3F8F1"/>
          </a:solidFill>
        </p:spPr>
        <p:txBody>
          <a:bodyPr wrap="square" rtlCol="0">
            <a:spAutoFit/>
          </a:bodyPr>
          <a:lstStyle/>
          <a:p>
            <a:r>
              <a:rPr lang="es-CO" sz="1600" dirty="0"/>
              <a:t>Convertirnos en una cafetería de barrio eficiente que elimine las filas en horas pico, mejorando drásticamente la experiencia del cliente y maximizando el volumen de pedidos atendidos en el local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601A126-C43F-12CB-467D-9CAF9F5B5D42}"/>
              </a:ext>
            </a:extLst>
          </p:cNvPr>
          <p:cNvSpPr txBox="1"/>
          <p:nvPr/>
        </p:nvSpPr>
        <p:spPr>
          <a:xfrm>
            <a:off x="2925098" y="2585885"/>
            <a:ext cx="1528916" cy="369332"/>
          </a:xfrm>
          <a:prstGeom prst="rect">
            <a:avLst/>
          </a:prstGeom>
          <a:solidFill>
            <a:srgbClr val="E4EAF6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Cliente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E5CB8F9-9F19-1672-DB12-6C6EC7AD1A01}"/>
              </a:ext>
            </a:extLst>
          </p:cNvPr>
          <p:cNvSpPr txBox="1"/>
          <p:nvPr/>
        </p:nvSpPr>
        <p:spPr>
          <a:xfrm>
            <a:off x="2925098" y="3533452"/>
            <a:ext cx="1646902" cy="900246"/>
          </a:xfrm>
          <a:prstGeom prst="rect">
            <a:avLst/>
          </a:prstGeom>
          <a:solidFill>
            <a:srgbClr val="E4EAF6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050" dirty="0"/>
              <a:t>Personas con poco tiempo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050" dirty="0"/>
              <a:t>Usuarios frecuentes en hora pico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050" dirty="0"/>
              <a:t>Clientes habituales</a:t>
            </a:r>
            <a:endParaRPr lang="es-CO" sz="2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18F757D-C51A-758F-274F-C39CB3DB1321}"/>
              </a:ext>
            </a:extLst>
          </p:cNvPr>
          <p:cNvSpPr txBox="1"/>
          <p:nvPr/>
        </p:nvSpPr>
        <p:spPr>
          <a:xfrm>
            <a:off x="2925098" y="4936802"/>
            <a:ext cx="1646902" cy="861774"/>
          </a:xfrm>
          <a:prstGeom prst="rect">
            <a:avLst/>
          </a:prstGeom>
          <a:solidFill>
            <a:srgbClr val="E4EAF6"/>
          </a:solidFill>
        </p:spPr>
        <p:txBody>
          <a:bodyPr wrap="square" rtlCol="0">
            <a:spAutoFit/>
          </a:bodyPr>
          <a:lstStyle/>
          <a:p>
            <a:pPr lvl="0"/>
            <a:r>
              <a:rPr lang="es-CO" sz="1000" dirty="0"/>
              <a:t>Cafetería de barrio de aproximadamente 35 m², atendida por 1 cajero y 2 baristas, que experimenta congestión matutina.</a:t>
            </a:r>
            <a:endParaRPr lang="es-CO" sz="2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D5A6F2C-2B0C-D535-4F60-28511D30FBB2}"/>
              </a:ext>
            </a:extLst>
          </p:cNvPr>
          <p:cNvSpPr txBox="1"/>
          <p:nvPr/>
        </p:nvSpPr>
        <p:spPr>
          <a:xfrm>
            <a:off x="5331542" y="2511637"/>
            <a:ext cx="1528916" cy="523220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r>
              <a:rPr lang="es-CO" sz="1400" dirty="0"/>
              <a:t>Largas filas en hora pico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2C96992-FB3C-35E2-F149-B08FA301F7A6}"/>
              </a:ext>
            </a:extLst>
          </p:cNvPr>
          <p:cNvSpPr txBox="1"/>
          <p:nvPr/>
        </p:nvSpPr>
        <p:spPr>
          <a:xfrm>
            <a:off x="5196348" y="3428999"/>
            <a:ext cx="1823884" cy="646331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200" dirty="0"/>
              <a:t>Evitar la frustración.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200" dirty="0"/>
              <a:t>consultar los productos</a:t>
            </a:r>
            <a:r>
              <a:rPr lang="es-CO" sz="900" dirty="0"/>
              <a:t>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7B0F7B2-5003-7293-7EE2-EF73081D0718}"/>
              </a:ext>
            </a:extLst>
          </p:cNvPr>
          <p:cNvSpPr txBox="1"/>
          <p:nvPr/>
        </p:nvSpPr>
        <p:spPr>
          <a:xfrm>
            <a:off x="5196348" y="4433698"/>
            <a:ext cx="1823884" cy="523220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400" dirty="0"/>
              <a:t>Realizar pedidos rápido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66EE2BB-7AE2-A5BC-9E80-17493142A920}"/>
              </a:ext>
            </a:extLst>
          </p:cNvPr>
          <p:cNvSpPr txBox="1"/>
          <p:nvPr/>
        </p:nvSpPr>
        <p:spPr>
          <a:xfrm>
            <a:off x="5184058" y="5367689"/>
            <a:ext cx="1823884" cy="584775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/>
              <a:t>Retirar de forma directa</a:t>
            </a:r>
            <a:endParaRPr lang="es-CO" sz="24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9DC770E-CC05-1D71-D8A9-41E63397044A}"/>
              </a:ext>
            </a:extLst>
          </p:cNvPr>
          <p:cNvSpPr txBox="1"/>
          <p:nvPr/>
        </p:nvSpPr>
        <p:spPr>
          <a:xfrm>
            <a:off x="7592142" y="2417979"/>
            <a:ext cx="1674760" cy="553998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r>
              <a:rPr lang="es-CO" sz="1000" dirty="0"/>
              <a:t>Una versión mínima viable (MVP) de una aplicación móvil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DA63493-433A-3FD1-E727-686C68DDE1FD}"/>
              </a:ext>
            </a:extLst>
          </p:cNvPr>
          <p:cNvSpPr txBox="1"/>
          <p:nvPr/>
        </p:nvSpPr>
        <p:spPr>
          <a:xfrm>
            <a:off x="7544656" y="3256453"/>
            <a:ext cx="1674760" cy="707886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r>
              <a:rPr lang="es-MX" sz="1000" dirty="0"/>
              <a:t>Ahorro de tiempo crítico en mañanas ocupadas mediante un flujo rápido de "pedir y retirar sin filas</a:t>
            </a:r>
            <a:endParaRPr lang="es-CO" sz="10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E1B596F-CA48-6CEC-DEE4-01CFE207BF22}"/>
              </a:ext>
            </a:extLst>
          </p:cNvPr>
          <p:cNvSpPr txBox="1"/>
          <p:nvPr/>
        </p:nvSpPr>
        <p:spPr>
          <a:xfrm>
            <a:off x="7592142" y="4510453"/>
            <a:ext cx="1674760" cy="707886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Visualizar el menú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Seleccionar productos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Pedidor sin fila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Retiros Programados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B7BC70E-009B-3E2F-BD88-59B6899A1130}"/>
              </a:ext>
            </a:extLst>
          </p:cNvPr>
          <p:cNvSpPr txBox="1"/>
          <p:nvPr/>
        </p:nvSpPr>
        <p:spPr>
          <a:xfrm>
            <a:off x="7544656" y="5796016"/>
            <a:ext cx="1722246" cy="400110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r>
              <a:rPr lang="es-MX" sz="1000" dirty="0"/>
              <a:t>App muy amigable al usuario, intuitiva</a:t>
            </a:r>
            <a:endParaRPr lang="es-CO" sz="10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8CC9069-67EB-C01C-A45D-3F82E127F3D5}"/>
              </a:ext>
            </a:extLst>
          </p:cNvPr>
          <p:cNvSpPr txBox="1"/>
          <p:nvPr/>
        </p:nvSpPr>
        <p:spPr>
          <a:xfrm>
            <a:off x="9891251" y="2447124"/>
            <a:ext cx="1674760" cy="1477328"/>
          </a:xfrm>
          <a:prstGeom prst="rect">
            <a:avLst/>
          </a:prstGeom>
          <a:solidFill>
            <a:srgbClr val="D9EBEB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Reducir los tiempos de espera de los clientes en el loca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Disminuir la congestión en el establecimiento durante la hora pico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Mejorar la satisfacción general del 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Aumentar ventas</a:t>
            </a:r>
            <a:endParaRPr lang="es-CO" sz="11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029930C-4FB6-7F63-B818-141D5EE0D389}"/>
              </a:ext>
            </a:extLst>
          </p:cNvPr>
          <p:cNvSpPr txBox="1"/>
          <p:nvPr/>
        </p:nvSpPr>
        <p:spPr>
          <a:xfrm>
            <a:off x="9891251" y="4410876"/>
            <a:ext cx="1674760" cy="1277273"/>
          </a:xfrm>
          <a:prstGeom prst="rect">
            <a:avLst/>
          </a:prstGeom>
          <a:solidFill>
            <a:srgbClr val="D9EBEB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/>
              <a:t>Tiempo promedio de espera por 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/>
              <a:t>Número de pedidos diarios procesados a través de la aplicación móvil.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/>
              <a:t>Cantidad de ventas</a:t>
            </a:r>
            <a:endParaRPr lang="es-CO" sz="1100" dirty="0"/>
          </a:p>
        </p:txBody>
      </p:sp>
    </p:spTree>
    <p:extLst>
      <p:ext uri="{BB962C8B-B14F-4D97-AF65-F5344CB8AC3E}">
        <p14:creationId xmlns:p14="http://schemas.microsoft.com/office/powerpoint/2010/main" val="257347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08B3A2F-8AB3-067A-2150-8E2BE8A8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7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3BD2-55A0-25DE-261E-050F2141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AD8D7F-429D-DFF6-F629-59A854406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067" y="0"/>
            <a:ext cx="8549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460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193</Words>
  <Application>Microsoft Office PowerPoint</Application>
  <PresentationFormat>Panorámica</PresentationFormat>
  <Paragraphs>27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Felipe Ochoa Cardona</dc:creator>
  <cp:lastModifiedBy>Luis Felipe Ochoa Cardona</cp:lastModifiedBy>
  <cp:revision>14</cp:revision>
  <dcterms:created xsi:type="dcterms:W3CDTF">2026-08-13T23:42:28Z</dcterms:created>
  <dcterms:modified xsi:type="dcterms:W3CDTF">2026-08-14T01:07:02Z</dcterms:modified>
</cp:coreProperties>
</file>